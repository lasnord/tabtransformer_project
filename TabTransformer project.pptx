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3e59c0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3e59c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3a4a64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3a4a64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53e59c0d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53e59c0d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53e59c0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53e59c0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53e59c0d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53e59c0d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TabTransformer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Lasse Nordqvist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13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Objective:</a:t>
            </a:r>
            <a:r>
              <a:rPr lang="it" sz="1500">
                <a:solidFill>
                  <a:schemeClr val="dk1"/>
                </a:solidFill>
              </a:rPr>
              <a:t> Predicting the risk of late deliveries for a sports retailer using TabTransformer, a transformer architecture specifically designed for the analysis and modeling of tabular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Target Variable:</a:t>
            </a:r>
            <a:r>
              <a:rPr lang="it" sz="1500">
                <a:solidFill>
                  <a:schemeClr val="dk1"/>
                </a:solidFill>
              </a:rPr>
              <a:t> Late_delivery_risk.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it" sz="1500">
                <a:solidFill>
                  <a:schemeClr val="dk1"/>
                </a:solidFill>
              </a:rPr>
              <a:t>1 (Late):</a:t>
            </a:r>
            <a:r>
              <a:rPr lang="it" sz="1500">
                <a:solidFill>
                  <a:schemeClr val="dk1"/>
                </a:solidFill>
              </a:rPr>
              <a:t> Realized delivery time is greater than scheduled time.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it" sz="1500">
                <a:solidFill>
                  <a:schemeClr val="dk1"/>
                </a:solidFill>
              </a:rPr>
              <a:t>0 (On Time):</a:t>
            </a:r>
            <a:r>
              <a:rPr lang="it" sz="1500">
                <a:solidFill>
                  <a:schemeClr val="dk1"/>
                </a:solidFill>
              </a:rPr>
              <a:t> Realized delivery time is equal or less than scheduled time.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Architecture:</a:t>
            </a:r>
            <a:r>
              <a:rPr lang="it" sz="1500">
                <a:solidFill>
                  <a:schemeClr val="dk1"/>
                </a:solidFill>
              </a:rPr>
              <a:t> TabTransfo</a:t>
            </a:r>
            <a:r>
              <a:rPr lang="it" sz="1500">
                <a:solidFill>
                  <a:schemeClr val="dk1"/>
                </a:solidFill>
              </a:rPr>
              <a:t>rmer</a:t>
            </a:r>
            <a:r>
              <a:rPr lang="it" sz="1500">
                <a:solidFill>
                  <a:schemeClr val="dk1"/>
                </a:solidFill>
              </a:rPr>
              <a:t>, a model that applies Transformer layers to categorical feature embeddings before combining them with numerical data for final classification.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Dataset</a:t>
            </a:r>
            <a:r>
              <a:rPr lang="it" sz="1500">
                <a:solidFill>
                  <a:schemeClr val="dk1"/>
                </a:solidFill>
              </a:rPr>
              <a:t>: ~180,000 rows of orders from a sports retailer, with 53 features related to the orders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pre-processing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Dropped features that: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Contain metadata (customer identification etc.)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Categorical features that have high cardinality (customer city, street etc.)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Features that are inferred from the target feature and risk data leakage (delivery status, realized order time etc.)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Contain missing values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80/10/10 train-test-validation split was done before statistical tests to avoid data leakage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Feature selection was done utilizing statistical tests to measure the statistical significance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Label encoding used for categorical features for the embedding, done after split to avoid data leakage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6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TabTransformer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(Huang et al. 2020)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920" l="0" r="0" t="-920"/>
          <a:stretch/>
        </p:blipFill>
        <p:spPr>
          <a:xfrm>
            <a:off x="5446425" y="596775"/>
            <a:ext cx="3741350" cy="45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31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Own transformer architecture implemented, based on previous 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implementations. Main architecture components: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Embedding</a:t>
            </a:r>
            <a:r>
              <a:rPr lang="it" sz="1500">
                <a:solidFill>
                  <a:schemeClr val="dk1"/>
                </a:solidFill>
              </a:rPr>
              <a:t> layers creates fixed sixe embedding vectors of 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categorical features (embed_dim = 32)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2 transformer blocks with 4 attention heads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it" sz="1500">
                <a:solidFill>
                  <a:schemeClr val="dk1"/>
                </a:solidFill>
              </a:rPr>
              <a:t>Multi-Head attention mechanism with Add &amp; Norm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it" sz="1500">
                <a:solidFill>
                  <a:schemeClr val="dk1"/>
                </a:solidFill>
              </a:rPr>
              <a:t>Followed by Feed Forward network and Add &amp; Norm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Transformer output is concatenated with numerical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features and then batch normalized to be used as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input to MLP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MLP with three layers (128, 64 and 1 </a:t>
            </a:r>
            <a:r>
              <a:rPr lang="it" sz="1500">
                <a:solidFill>
                  <a:schemeClr val="dk1"/>
                </a:solidFill>
              </a:rPr>
              <a:t>neuron) is used to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create a probability of the binary class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Based on probability, a prediction for the target label is made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 training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‘Late’ label was given 1.5x the weight compared to ‘On time’ during training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AdamW </a:t>
            </a:r>
            <a:r>
              <a:rPr lang="it" sz="1500">
                <a:solidFill>
                  <a:schemeClr val="dk1"/>
                </a:solidFill>
              </a:rPr>
              <a:t>optimizer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Binary-Cross entropy as loss function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Early stopping to avoid over-fitting, model reached convergence ~25 epochs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Results &amp; future improvement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0675" y="2571738"/>
            <a:ext cx="5293327" cy="22331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222750" y="1152475"/>
            <a:ext cx="478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For a business use case, main performance metric ‘Late’ label recall, 0.85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‘Late’ label weighing allowed better performance for ‘Late’ label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Future improvements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Hyperparameter tuning (not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done due to computational time)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Tuning of prediction threshold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(now base value 0.5 used)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Refined statistical tests that </a:t>
            </a:r>
            <a:br>
              <a:rPr lang="it" sz="1500">
                <a:solidFill>
                  <a:schemeClr val="dk1"/>
                </a:solidFill>
              </a:rPr>
            </a:br>
            <a:r>
              <a:rPr lang="it" sz="1500">
                <a:solidFill>
                  <a:schemeClr val="dk1"/>
                </a:solidFill>
              </a:rPr>
              <a:t>for transformers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25" y="1101875"/>
            <a:ext cx="3439799" cy="10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